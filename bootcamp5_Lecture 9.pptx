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0ca47f27e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0ca47f27e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0ca47f27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0ca47f27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82033a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582033a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582033acc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582033ac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1.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174150" y="964825"/>
            <a:ext cx="8795700" cy="14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600">
                <a:solidFill>
                  <a:srgbClr val="09F803"/>
                </a:solidFill>
              </a:rPr>
              <a:t>Hunt #3.</a:t>
            </a:r>
            <a:endParaRPr b="1" sz="2600">
              <a:solidFill>
                <a:srgbClr val="09F803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74150" y="2439075"/>
            <a:ext cx="8795700" cy="12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lt1"/>
                </a:solidFill>
              </a:rPr>
              <a:t>“</a:t>
            </a:r>
            <a:r>
              <a:rPr i="1" lang="en" sz="1600">
                <a:solidFill>
                  <a:schemeClr val="lt1"/>
                </a:solidFill>
              </a:rPr>
              <a:t>Two roles, one shadow.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600">
                <a:solidFill>
                  <a:schemeClr val="lt1"/>
                </a:solidFill>
              </a:rPr>
              <a:t>Each step leaves a mark unclear.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lt1"/>
                </a:solidFill>
              </a:rPr>
              <a:t>Which path did you take?</a:t>
            </a:r>
            <a:r>
              <a:rPr i="1" lang="en" sz="1600">
                <a:solidFill>
                  <a:schemeClr val="lt1"/>
                </a:solidFill>
              </a:rPr>
              <a:t>”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 title="1.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215025" y="1106700"/>
            <a:ext cx="8795700" cy="29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Vulnerability Type: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Account Duplication Bug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>
                <a:solidFill>
                  <a:schemeClr val="lt1"/>
                </a:solidFill>
              </a:rPr>
            </a:br>
            <a:r>
              <a:rPr b="1" lang="en">
                <a:solidFill>
                  <a:schemeClr val="lt1"/>
                </a:solidFill>
              </a:rPr>
              <a:t>What</a:t>
            </a:r>
            <a:r>
              <a:rPr b="1" lang="en" sz="1600">
                <a:solidFill>
                  <a:srgbClr val="09F803"/>
                </a:solidFill>
              </a:rPr>
              <a:t> </a:t>
            </a:r>
            <a:r>
              <a:rPr b="1" lang="en">
                <a:solidFill>
                  <a:schemeClr val="lt1"/>
                </a:solidFill>
              </a:rPr>
              <a:t>it demonstrates: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The Problem: </a:t>
            </a:r>
            <a:r>
              <a:rPr lang="en">
                <a:solidFill>
                  <a:schemeClr val="lt1"/>
                </a:solidFill>
              </a:rPr>
              <a:t>Same account can be passed as both source and destination in single instruction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Attack Vector: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"Transfer" NFTs from vault to itself, creating free duplicates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Technical Detail: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Anchor deserializes same account twice, last write wins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Key Learning: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Add explicit checks to prevent same account in multiple mutable contexts or write/reload account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15025" y="291250"/>
            <a:ext cx="8795700" cy="5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9F803"/>
                </a:solidFill>
              </a:rPr>
              <a:t>🚨 Hunt 3:</a:t>
            </a:r>
            <a:r>
              <a:rPr b="1" lang="en" sz="1900">
                <a:solidFill>
                  <a:schemeClr val="lt1"/>
                </a:solidFill>
              </a:rPr>
              <a:t> Duplicate Writable Accounts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5" title="1.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74150" y="964825"/>
            <a:ext cx="8795700" cy="5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600">
                <a:solidFill>
                  <a:srgbClr val="09F803"/>
                </a:solidFill>
              </a:rPr>
              <a:t>Hunt #9.</a:t>
            </a:r>
            <a:endParaRPr b="1" sz="2600">
              <a:solidFill>
                <a:srgbClr val="09F803"/>
              </a:solidFill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174150" y="2439075"/>
            <a:ext cx="8795700" cy="12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lt1"/>
                </a:solidFill>
              </a:rPr>
              <a:t>“Silent partner calls,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600">
                <a:solidFill>
                  <a:schemeClr val="lt1"/>
                </a:solidFill>
              </a:rPr>
              <a:t>Echoes travel far and wide,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chemeClr val="lt1"/>
                </a:solidFill>
              </a:rPr>
              <a:t>Trust the path you choose.”</a:t>
            </a:r>
            <a:endParaRPr i="1" sz="1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 title="1.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6"/>
          <p:cNvSpPr txBox="1"/>
          <p:nvPr/>
        </p:nvSpPr>
        <p:spPr>
          <a:xfrm>
            <a:off x="215025" y="1106700"/>
            <a:ext cx="8795700" cy="29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Vulnerability Type: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Confused Deputy Attack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What it demonstrates: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The Problem: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Marketplace makes CPI to arbitrary "royalty program" without validation, propagating buyer's signer privileges to malicious program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Attack Vector: </a:t>
            </a:r>
            <a:r>
              <a:rPr lang="en">
                <a:solidFill>
                  <a:schemeClr val="lt1"/>
                </a:solidFill>
              </a:rPr>
              <a:t>Attacker provides fake royalty program address that steals 10x the expected royalty amount from buyer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Technical Detail:</a:t>
            </a:r>
            <a:r>
              <a:rPr b="1" lang="en">
                <a:solidFill>
                  <a:schemeClr val="lt1"/>
                </a:solidFill>
              </a:rPr>
              <a:t> </a:t>
            </a:r>
            <a:r>
              <a:rPr lang="en">
                <a:solidFill>
                  <a:schemeClr val="lt1"/>
                </a:solidFill>
              </a:rPr>
              <a:t> CPI call passes buyer as signer to unvalidated program, allowing malicious program to make additional transfers with buyer's authority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rgbClr val="09F803"/>
                </a:solidFill>
              </a:rPr>
              <a:t>&gt; Key Learning:</a:t>
            </a:r>
            <a:r>
              <a:rPr lang="en">
                <a:solidFill>
                  <a:schemeClr val="lt1"/>
                </a:solidFill>
              </a:rPr>
              <a:t> Always validate program IDs in CPI calls, never trust user-provided program addresses, and use allowlists for external program calls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09F80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>
              <a:solidFill>
                <a:srgbClr val="09F803"/>
              </a:solidFill>
            </a:endParaRPr>
          </a:p>
        </p:txBody>
      </p:sp>
      <p:sp>
        <p:nvSpPr>
          <p:cNvPr id="85" name="Google Shape;85;p16"/>
          <p:cNvSpPr txBox="1"/>
          <p:nvPr/>
        </p:nvSpPr>
        <p:spPr>
          <a:xfrm>
            <a:off x="215025" y="262475"/>
            <a:ext cx="87957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09F803"/>
                </a:solidFill>
              </a:rPr>
              <a:t>🚨 Hunt 9:</a:t>
            </a:r>
            <a:r>
              <a:rPr b="1" lang="en" sz="1900">
                <a:solidFill>
                  <a:schemeClr val="lt1"/>
                </a:solidFill>
              </a:rPr>
              <a:t> Confused Deputy Attack with Malicious CPI</a:t>
            </a:r>
            <a:endParaRPr b="1" sz="1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